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2D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Stain-Robust Adaptive Tiling for RCC WSI Classification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64C8DC"/>
                </a:solidFill>
              </a:defRPr>
            </a:pPr>
            <a:r>
              <a:t>Optimizing Computational Efficiency While Maintaining Accuracy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WSI Computational Burden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Whole Slide Images (WSI) are massive: 20,000×20,000 to 100,000×100,000 pixels</a:t>
            </a:r>
          </a:p>
          <a:p>
            <a:pPr>
              <a:defRPr sz="1800"/>
            </a:pPr>
            <a:r>
              <a:t>Cannot process entire image at once - too large for GPU memory</a:t>
            </a:r>
          </a:p>
          <a:p>
            <a:pPr>
              <a:defRPr sz="1800"/>
            </a:pPr>
            <a:r>
              <a:t>Current approach: Uniform grid tiling → 256+ patches per image</a:t>
            </a:r>
          </a:p>
          <a:p>
            <a:pPr>
              <a:defRPr sz="1800"/>
            </a:pPr>
            <a:r>
              <a:t>Result: Redundant computation on non-diagnostic regions</a:t>
            </a:r>
          </a:p>
          <a:p>
            <a:pPr>
              <a:defRPr sz="1800"/>
            </a:pPr>
            <a:r>
              <a:t>Challenge: How to intelligently select patches without missing tumors?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Approach: Adaptive Tiling with Stain Robustness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Compute complexity map (identifies interesting regions)</a:t>
            </a:r>
          </a:p>
          <a:p>
            <a:pPr>
              <a:defRPr sz="1800"/>
            </a:pPr>
            <a:r>
              <a:t>Account for staining artifacts (normalize before analysis)</a:t>
            </a:r>
          </a:p>
          <a:p>
            <a:pPr>
              <a:defRPr sz="1800"/>
            </a:pPr>
            <a:r>
              <a:t>Adaptively sample: dense in complex areas, sparse in simple areas</a:t>
            </a:r>
          </a:p>
          <a:p>
            <a:pPr>
              <a:defRPr sz="1800"/>
            </a:pPr>
            <a:r>
              <a:t>Result: 30% fewer patches, better accuracy, robust to staining variations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ure1_efficienc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235046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Figure 1: Efficiency and Accuracy Gains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ure2_stain_robust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490333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Figure 2: Robustness to Staining Variations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ure3_tiling_visualiz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8229600" cy="286004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i="1"/>
            </a:pPr>
            <a:r>
              <a:t>Figure 3: Tiling Strategy Comparison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ure4_results_summary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457200"/>
            <a:ext cx="8686800" cy="47853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 b="1"/>
            </a:pPr>
            <a:r>
              <a:t>32% reduction in patches needed (256 → 174 per image)</a:t>
            </a:r>
          </a:p>
          <a:p>
            <a:pPr>
              <a:defRPr sz="1800" b="1"/>
            </a:pPr>
            <a:r>
              <a:t>Accuracy improved by 0.8% (92.3% → 93.1%)</a:t>
            </a:r>
          </a:p>
          <a:p>
            <a:pPr>
              <a:defRPr sz="1800" b="1"/>
            </a:pPr>
            <a:r>
              <a:t>14% faster processing (including stain normalization overhead)</a:t>
            </a:r>
          </a:p>
          <a:p>
            <a:pPr>
              <a:defRPr sz="1800" b="1"/>
            </a:pPr>
            <a:r>
              <a:t>Stain robustness: 95% reduction in accuracy drop across labs (5.8% → 0.2%)</a:t>
            </a:r>
          </a:p>
          <a:p>
            <a:pPr>
              <a:defRPr sz="1800" b="1"/>
            </a:pPr>
            <a:r>
              <a:t>Maintains sensitivity (90.1% → 91.0%) and specificity (94.5% → 95.2%)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&amp; Future Directions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Clinical Impact: Faster diagnosis, reduced computational requirements</a:t>
            </a:r>
          </a:p>
          <a:p>
            <a:pPr>
              <a:defRPr sz="1800"/>
            </a:pPr>
            <a:r>
              <a:t>Research Impact: Multi-center studies become feasible with stain robustness</a:t>
            </a:r>
          </a:p>
          <a:p>
            <a:pPr>
              <a:defRPr sz="1800"/>
            </a:pPr>
            <a:r>
              <a:t>Future: Multi-scale adaptive tiling, real-time inference</a:t>
            </a:r>
          </a:p>
          <a:p>
            <a:pPr>
              <a:defRPr sz="1800"/>
            </a:pPr>
            <a:r>
              <a:t>Generalization: Applicable to other pathology image analysis tasks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