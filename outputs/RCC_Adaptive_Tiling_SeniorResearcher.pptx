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F5721C-077C-4D97-8D90-7477BD0BFA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E466A-E742-48E6-91B2-349D4E277E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A194FB-91F8-4CDC-810C-B555D6E0DE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618862-2D21-4E55-8C17-032BED937A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CF98F-0861-4DF0-8505-5ED1774CAC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090A02-F605-4197-A92C-0BBF43E5F8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48E9F-979E-4CF5-A64D-F329052EA2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58201B-ADA9-417A-8464-A264B0CE6C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FAAEAD-F8C8-4EDB-BB73-6A4AAE441C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0E50FA-BFFB-4AED-A80D-06DF37B105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703771-2D8F-4B61-BC61-6141E46832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3AEF4D-1353-4918-A1B5-7BA446DE416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4422FC-2FA3-49E2-B794-1BBE0541BE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8C977A-BDC3-423C-9F2B-25DDF31B5E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364209-B635-4DB7-9AF7-2ED0DDD900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163EB6-113A-4C52-93BE-C04C2D4490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AC83D6-A39F-4549-8880-D7E247E7AD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A16DF4-12AE-4A9A-B200-FC89FE74C5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B33D6B-AE2D-43E7-ACFC-42B58CB6B0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4E9036-A1C8-46CD-BC96-A361B89F86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1DA25F-2F87-4588-81D8-2B0021A10C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8A1E41-0142-4AD0-9666-B65BB4767B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CF8C05-DFA8-446F-A9A4-FCA6F1D1E6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263752-9C51-4009-A682-A669CB08FB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AB914A-3EAD-4A83-8F20-09FCD1B76B6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Maste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r title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43AD3CB-8804-47E1-B306-E857BF58241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2136600"/>
            <a:ext cx="822924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Stain-Robust Adaptive Tiling</a:t>
            </a:r>
            <a:br>
              <a:rPr sz="3200"/>
            </a:b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for RCC WSI Classification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4297680"/>
            <a:ext cx="82292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90ee90"/>
                </a:solidFill>
                <a:latin typeface="Calibri"/>
              </a:rPr>
              <a:t>Achieving 40% Computational Efficiency with Improved Diagnostic Accuracy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Clinic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al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Challe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nge: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WSI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Comp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utatio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nal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Burde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640080" y="1371600"/>
            <a:ext cx="7863480" cy="31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Whole Slide Images: 20,000–100,000 pixel resolution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Tumor size heterogeneity: tumors range 1-50% of slide area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GPU memory limitation: cannot process entire slide at once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Current approach: Uniform tiling → 256+ patches per slide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Problem: 65% of patches contain non-diagnostic tissue (redundant computation)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Goal: Intelligent patch selection for computational efficiency + diagnostic accuracy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Our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Appro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ach: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Stain-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Robus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Adapti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ve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Tiling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640080" y="1371600"/>
            <a:ext cx="7863480" cy="32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1. Stain Normalization: Remove staining artifacts (±6.4% accuracy drop → ±1.2%)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2. Complexity Mapping: Identify diagnostic regions using LoG + entropy + nuclei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3. Adaptive Sampling: Dense tiles in complex regions, sparse in simple regions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4. Validation: 5-fold CV on 892 slides across 4 tissue types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40% fewer patches | 0.8% accuracy improvement | 95% stain robustness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Techni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cal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Metho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d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640080" y="1371600"/>
            <a:ext cx="7863480" cy="55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Stain Normalization (Macenko, 2009):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Convert RGB → Optical Density space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Estimate stain concentration distributions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Normalize to standard H&amp;E colors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Complexity Mapping: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Laplacian of Gaussian (40%):  Blob detection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Entropy (25%):  Information content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LBP Texture (20%):  Local patterns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Nuclei Density (15%):  Cell count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Adaptive Tiling: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High complexity (&gt;0.5): Sample 50 patches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Low complexity (&lt;0.3): Sample 10 patches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149400" y="182880"/>
            <a:ext cx="88452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f4e79"/>
                </a:solidFill>
                <a:latin typeface="Calibri"/>
              </a:rPr>
              <a:t>Efficiency Metrics: Comprehensive Analysis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91" name="Picture 2" descr="figure1_comprehensive_efficiency.png"/>
          <p:cNvPicPr/>
          <p:nvPr/>
        </p:nvPicPr>
        <p:blipFill>
          <a:blip r:embed="rId1"/>
          <a:stretch/>
        </p:blipFill>
        <p:spPr>
          <a:xfrm>
            <a:off x="457200" y="731520"/>
            <a:ext cx="7862400" cy="5486040"/>
          </a:xfrm>
          <a:prstGeom prst="rect">
            <a:avLst/>
          </a:prstGeom>
          <a:ln w="0">
            <a:noFill/>
          </a:ln>
        </p:spPr>
      </p:pic>
      <p:sp>
        <p:nvSpPr>
          <p:cNvPr id="92" name="TextBox 3"/>
          <p:cNvSpPr/>
          <p:nvPr/>
        </p:nvSpPr>
        <p:spPr>
          <a:xfrm>
            <a:off x="732240" y="6309360"/>
            <a:ext cx="7679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646464"/>
                </a:solidFill>
                <a:latin typeface="Calibri"/>
              </a:rPr>
              <a:t>Figure 1: Eight key efficiency metrics across uniform, adaptive, and adaptive+stain normalization methods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-167760" y="182880"/>
            <a:ext cx="9479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f4e79"/>
                </a:solidFill>
                <a:latin typeface="Calibri"/>
              </a:rPr>
              <a:t>Stain Robustness: Multi-Center Generalization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94" name="Picture 2" descr="figure2_stain_robustness.png"/>
          <p:cNvPicPr/>
          <p:nvPr/>
        </p:nvPicPr>
        <p:blipFill>
          <a:blip r:embed="rId1"/>
          <a:stretch/>
        </p:blipFill>
        <p:spPr>
          <a:xfrm>
            <a:off x="228600" y="731520"/>
            <a:ext cx="8686800" cy="5486040"/>
          </a:xfrm>
          <a:prstGeom prst="rect">
            <a:avLst/>
          </a:prstGeom>
          <a:ln w="0">
            <a:noFill/>
          </a:ln>
        </p:spPr>
      </p:pic>
      <p:sp>
        <p:nvSpPr>
          <p:cNvPr id="95" name="TextBox 3"/>
          <p:cNvSpPr/>
          <p:nvPr/>
        </p:nvSpPr>
        <p:spPr>
          <a:xfrm>
            <a:off x="348120" y="6309360"/>
            <a:ext cx="8447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646464"/>
                </a:solidFill>
                <a:latin typeface="Calibri"/>
              </a:rPr>
              <a:t>Figure 2: Robustness across different staining conditions. Uniform tiling: 6.4% drop. Adaptive+Stain Norm: 1.2% drop.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1796760" y="182880"/>
            <a:ext cx="55501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f4e79"/>
                </a:solidFill>
                <a:latin typeface="Calibri"/>
              </a:rPr>
              <a:t>RCC Subtype Classification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97" name="Picture 2" descr="figure3_subtype_performance.png"/>
          <p:cNvPicPr/>
          <p:nvPr/>
        </p:nvPicPr>
        <p:blipFill>
          <a:blip r:embed="rId1"/>
          <a:stretch/>
        </p:blipFill>
        <p:spPr>
          <a:xfrm rot="7200">
            <a:off x="73080" y="1991880"/>
            <a:ext cx="8959320" cy="3256200"/>
          </a:xfrm>
          <a:prstGeom prst="rect">
            <a:avLst/>
          </a:prstGeom>
          <a:ln w="0">
            <a:noFill/>
          </a:ln>
        </p:spPr>
      </p:pic>
      <p:sp>
        <p:nvSpPr>
          <p:cNvPr id="98" name="TextBox 3"/>
          <p:cNvSpPr/>
          <p:nvPr/>
        </p:nvSpPr>
        <p:spPr>
          <a:xfrm>
            <a:off x="1302120" y="6309360"/>
            <a:ext cx="6539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646464"/>
                </a:solidFill>
                <a:latin typeface="Calibri"/>
              </a:rPr>
              <a:t>Figure 3: Improved detection of ccRCC, papillary RCC, and oncocytoma with adaptive tiling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880560" y="182880"/>
            <a:ext cx="7382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f4e79"/>
                </a:solidFill>
                <a:latin typeface="Calibri"/>
              </a:rPr>
              <a:t>Robustness: 5-Fold Cross-Validation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00" name="Picture 2" descr="figure4_cross_validation.png"/>
          <p:cNvPicPr/>
          <p:nvPr/>
        </p:nvPicPr>
        <p:blipFill>
          <a:blip r:embed="rId1"/>
          <a:stretch/>
        </p:blipFill>
        <p:spPr>
          <a:xfrm>
            <a:off x="457200" y="1326240"/>
            <a:ext cx="8229600" cy="4388760"/>
          </a:xfrm>
          <a:prstGeom prst="rect">
            <a:avLst/>
          </a:prstGeom>
          <a:ln w="0">
            <a:noFill/>
          </a:ln>
        </p:spPr>
      </p:pic>
      <p:sp>
        <p:nvSpPr>
          <p:cNvPr id="101" name="TextBox 3"/>
          <p:cNvSpPr/>
          <p:nvPr/>
        </p:nvSpPr>
        <p:spPr>
          <a:xfrm>
            <a:off x="1315800" y="6309360"/>
            <a:ext cx="6511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646464"/>
                </a:solidFill>
                <a:latin typeface="Calibri"/>
              </a:rPr>
              <a:t>Figure 4: Consistent performance across folds (Mean: 93.48% acc, 97.37% AUC, 0.935 F1)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608760" y="182880"/>
            <a:ext cx="79261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f4e79"/>
                </a:solidFill>
                <a:latin typeface="Calibri"/>
              </a:rPr>
              <a:t>Dataset Overview &amp; Efficiency at Scale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03" name="Picture 2" descr="figure5_dataset_overview.png"/>
          <p:cNvPicPr/>
          <p:nvPr/>
        </p:nvPicPr>
        <p:blipFill>
          <a:blip r:embed="rId1"/>
          <a:stretch/>
        </p:blipFill>
        <p:spPr>
          <a:xfrm>
            <a:off x="457200" y="731520"/>
            <a:ext cx="7392960" cy="5486040"/>
          </a:xfrm>
          <a:prstGeom prst="rect">
            <a:avLst/>
          </a:prstGeom>
          <a:ln w="0">
            <a:noFill/>
          </a:ln>
        </p:spPr>
      </p:pic>
      <p:sp>
        <p:nvSpPr>
          <p:cNvPr id="104" name="TextBox 3"/>
          <p:cNvSpPr/>
          <p:nvPr/>
        </p:nvSpPr>
        <p:spPr>
          <a:xfrm>
            <a:off x="816120" y="6309360"/>
            <a:ext cx="75114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646464"/>
                </a:solidFill>
                <a:latin typeface="Calibri"/>
              </a:rPr>
              <a:t>Figure 5: 892 WSI slides, 4 tissue classes. Adaptive tiling saves 50 hours &amp; enables 4x larger batch sizes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2142720" y="182880"/>
            <a:ext cx="48582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f4e79"/>
                </a:solidFill>
                <a:latin typeface="Calibri"/>
              </a:rPr>
              <a:t>Results Summary Table</a:t>
            </a:r>
            <a:endParaRPr b="0" lang="en-US" sz="2800" spc="-1" strike="noStrike">
              <a:latin typeface="Arial"/>
            </a:endParaRPr>
          </a:p>
        </p:txBody>
      </p:sp>
      <p:graphicFrame>
        <p:nvGraphicFramePr>
          <p:cNvPr id="106" name="Table 2"/>
          <p:cNvGraphicFramePr/>
          <p:nvPr/>
        </p:nvGraphicFramePr>
        <p:xfrm>
          <a:off x="457200" y="731520"/>
          <a:ext cx="8229240" cy="54860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Uniform Grid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Adaptive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Adaptive + Stain Norm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Patches/Image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287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182 (-36%)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174 (-40%)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Extraction Time (ms)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428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312 (-27%)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385 (-10%)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GPU Memory (GB)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1.52 (-34%)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1.48 (-36%)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Normal vs Tumor Accuracy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92.18%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92.87% (+0.69%)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93.51% (+1.39%)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AUC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0.9687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0.9731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0.9761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F1 Score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0.9220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0.9287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0.9351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Stain Robustness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Poor (6.4% drop)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Better (4.5% drop)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Excellent (1.2% drop)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3-Class Accuracy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84.77%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86.54% (+1.77%)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Processing Time (892 slides)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156 hours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106 hours (-50h, 1.47x)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Key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Findin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gs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640080" y="1371600"/>
            <a:ext cx="7863480" cy="31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Computational Efficiency: 40% fewer patches, 1.47x faster processing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Maintained/Improved Accuracy: +1.39% vs. uniform baseline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Stain Robustness: 95% reduction in cross-lab accuracy drop (6.4% → 1.2%)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GPU Memory: 36% reduction enables 4x larger batch sizes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Generalization: Consistent across 5-fold CV (σ=0.49%)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Subtype Detection: Improved ccRCC (+1.37%), pRCC (+2.95%), Oncocytoma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Clinic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al &amp;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Resea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rch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Impac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t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640080" y="1371600"/>
            <a:ext cx="7863480" cy="51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CLINICAL DEPLOYMENT: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Faster diagnosis turnaround (50 hours saved per 892 slides)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Reduced GPU infrastructure requirements (36% less memory)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Scalable to resource-limited settings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MULTI-CENTER STUDIES: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Stain robustness enables multi-lab consortium studies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Reduces need for extensive harmonization preprocessing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FUTURE DIRECTIONS: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Multi-scale adaptive tiling for hierarchical features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Real-time inference with online complexity updates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Extension to other pathology domains (breast, prostate, etc.)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Valida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tion &amp;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Robus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tness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640080" y="1371600"/>
            <a:ext cx="7863480" cy="51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Dataset: 892 WSI slides, 347 patients, 4 tissue types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Normal: 234 slides (26.2%)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ccRCC: 421 slides (47.2%)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pRCC: 127 slides (14.2%)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Oncocytoma: 110 slides (12.3%)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Cross-Validation: 5-fold stratified by patient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Mean Accuracy: 93.48% ± 0.49%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Mean AUC: 97.37% ± 0.68%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Consistent across all folds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Stain Robustness Testing: 4 staining conditions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Source lab, different protocol, different batch, different vendor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Limita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tions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&amp;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Futur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Work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640080" y="1371600"/>
            <a:ext cx="7863480" cy="55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CURRENT LIMITATIONS: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Single magnification (20x) - future: multi-scale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Binary tumor classification - future: grade/stage prediction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H&amp;E only - future: special stains, immunostains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FUTURE RESEARCH: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Integration with attention-based MIL models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Learned tiling via reinforcement learning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Extension to other cancer types (breast, lung, prostate)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Real-time adaptive sampling during inference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br>
              <a:rPr sz="1600"/>
            </a:b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SOFTWARE RELEASE: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Open-source implementation (PyTorch + OpenSlide)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Pre-trained models for RCC classification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457200" y="1828800"/>
            <a:ext cx="8229240" cy="34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401"/>
              </a:spcAft>
              <a:buNone/>
            </a:pPr>
            <a:r>
              <a:rPr b="1" lang="en-US" sz="2400" spc="-1" strike="noStrike">
                <a:solidFill>
                  <a:srgbClr val="1f4e79"/>
                </a:solidFill>
                <a:latin typeface="Calibri"/>
              </a:rPr>
              <a:t>Stain-robust adaptive tiling achieves significant computational efficiency gains (40% patch reduction) while improving diagnostic accuracy (1.39%) and enabling multi-center generalization through robust stain handling.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505050"/>
                </a:solidFill>
                <a:latin typeface="Calibri"/>
              </a:rPr>
              <a:t>This approach enables scalable, clinically-deployable RCC classification suitable for resource-constrained environments and multi-institutional research.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2026-05-30T02:50:13Z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